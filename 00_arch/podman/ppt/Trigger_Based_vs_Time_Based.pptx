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From Time-Based to Trigger-Based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4864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C9D6E8"/>
                </a:solidFill>
                <a:latin typeface="Calibri"/>
              </a:rPr>
              <a:t>Automated, data-driven job starts — fewer failures, earlier delivery, incidents avoided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1188720"/>
            <a:ext cx="5532120" cy="1874519"/>
          </a:xfrm>
          <a:prstGeom prst="roundRect">
            <a:avLst>
              <a:gd name="adj" fmla="val 6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88720"/>
            <a:ext cx="82296" cy="1874519"/>
          </a:xfrm>
          <a:prstGeom prst="rect">
            <a:avLst/>
          </a:prstGeom>
          <a:solidFill>
            <a:srgbClr val="A63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5074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A6352C"/>
                </a:solidFill>
                <a:latin typeface="Calibri"/>
              </a:rPr>
              <a:t>PREVIOUS — Time-Based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50292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>
                <a:solidFill>
                  <a:srgbClr val="1B2A4A"/>
                </a:solidFill>
                <a:latin typeface="Calibri"/>
              </a:rPr>
              <a:t>•  Jobs fixed to run at a set clock time, regardless of data readiness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>
                <a:solidFill>
                  <a:srgbClr val="1B2A4A"/>
                </a:solidFill>
                <a:latin typeface="Calibri"/>
              </a:rPr>
              <a:t>•  If upstream data hadn't arrived yet, the job still fired — and failed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>
                <a:solidFill>
                  <a:srgbClr val="1B2A4A"/>
                </a:solidFill>
                <a:latin typeface="Calibri"/>
              </a:rPr>
              <a:t>•  Every failure created a production incident, even when data simply arrived late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88720"/>
            <a:ext cx="5532120" cy="1874519"/>
          </a:xfrm>
          <a:prstGeom prst="roundRect">
            <a:avLst>
              <a:gd name="adj" fmla="val 6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88720"/>
            <a:ext cx="82296" cy="1874519"/>
          </a:xfrm>
          <a:prstGeom prst="rect">
            <a:avLst/>
          </a:prstGeom>
          <a:solidFill>
            <a:srgbClr val="1E7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298448"/>
            <a:ext cx="5074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E7A4C"/>
                </a:solidFill>
                <a:latin typeface="Calibri"/>
              </a:rPr>
              <a:t>CURRENT — Trigger-Based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664208"/>
            <a:ext cx="502920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00">
                <a:solidFill>
                  <a:srgbClr val="1B2A4A"/>
                </a:solidFill>
                <a:latin typeface="Calibri"/>
              </a:rPr>
              <a:t>•  Jobs start automatically the moment upstream data actually arrives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00">
                <a:solidFill>
                  <a:srgbClr val="1B2A4A"/>
                </a:solidFill>
                <a:latin typeface="Calibri"/>
              </a:rPr>
              <a:t>•  No fixed clock time — no more “fired too early, no data” failures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00">
                <a:solidFill>
                  <a:srgbClr val="1B2A4A"/>
                </a:solidFill>
                <a:latin typeface="Calibri"/>
              </a:rPr>
              <a:t>•  Runs as early as data allows, and skips the incident entirely when the old fixed time would have been missed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00">
                <a:solidFill>
                  <a:srgbClr val="1B2A4A"/>
                </a:solidFill>
                <a:latin typeface="Calibri"/>
              </a:rPr>
              <a:t>•  Absorbs upstream delays cleanly — old time-bound configs meant a delay caused two days' data to land and run together, needing L2 to manually split files by date and reprocess; across multiple mandates this became a massive manual effort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246119"/>
            <a:ext cx="2705023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328415"/>
            <a:ext cx="237583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4A525E"/>
                </a:solidFill>
                <a:latin typeface="Calibri"/>
              </a:rPr>
              <a:t>AVG. EARLY START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666743"/>
            <a:ext cx="237583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6FB2"/>
                </a:solidFill>
                <a:latin typeface="Calibri"/>
              </a:rPr>
              <a:t>2h 28m earlier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9383" y="3246119"/>
            <a:ext cx="2705023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82263" y="3328415"/>
            <a:ext cx="237583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4A525E"/>
                </a:solidFill>
                <a:latin typeface="Calibri"/>
              </a:rPr>
              <a:t>AVG. UPSTREAM DELAY REDUCED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82263" y="3666743"/>
            <a:ext cx="237583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6FB2"/>
                </a:solidFill>
                <a:latin typeface="Calibri"/>
              </a:rPr>
              <a:t>1h 53m faster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7287" y="3246119"/>
            <a:ext cx="2705023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0167" y="3328415"/>
            <a:ext cx="237583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4A525E"/>
                </a:solidFill>
                <a:latin typeface="Calibri"/>
              </a:rPr>
              <a:t>PRIOR MONTHLY INCIDENTS (AVG)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3666743"/>
            <a:ext cx="237583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A6352C"/>
                </a:solidFill>
                <a:latin typeface="Calibri"/>
              </a:rPr>
              <a:t>55 / month, all mandates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75191" y="3246119"/>
            <a:ext cx="2705023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D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58071" y="3328415"/>
            <a:ext cx="237583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4A525E"/>
                </a:solidFill>
                <a:latin typeface="Calibri"/>
              </a:rPr>
              <a:t>INCIDENTS AVOIDED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3666743"/>
            <a:ext cx="237583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E7A4C"/>
                </a:solidFill>
                <a:latin typeface="Calibri"/>
              </a:rPr>
              <a:t>27 across 6 mandates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4224527"/>
          <a:ext cx="11368731" cy="23774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273747"/>
                <a:gridCol w="1136873"/>
                <a:gridCol w="1136873"/>
                <a:gridCol w="1477935"/>
                <a:gridCol w="1477935"/>
                <a:gridCol w="1932684"/>
                <a:gridCol w="1932684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Mandate</a:t>
                      </a:r>
                    </a:p>
                  </a:txBody>
                  <a:tcPr anchor="ctr" marL="73152" marR="73152" marT="18288" marB="18288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Previous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Start Time</a:t>
                      </a:r>
                    </a:p>
                  </a:txBody>
                  <a:tcPr anchor="ctr" marL="73152" marR="73152" marT="18288" marB="18288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New Automated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Start Time</a:t>
                      </a:r>
                    </a:p>
                  </a:txBody>
                  <a:tcPr anchor="ctr" marL="73152" marR="73152" marT="18288" marB="18288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Avg. Improvement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(Early)</a:t>
                      </a:r>
                    </a:p>
                  </a:txBody>
                  <a:tcPr anchor="ctr" marL="73152" marR="73152" marT="18288" marB="18288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Avg. Upstream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Delay</a:t>
                      </a:r>
                    </a:p>
                  </a:txBody>
                  <a:tcPr anchor="ctr" marL="73152" marR="73152" marT="18288" marB="18288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Incidents Occurred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(Late Arrival /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Out-of-Time-Bound)</a:t>
                      </a:r>
                    </a:p>
                  </a:txBody>
                  <a:tcPr anchor="ctr" marL="73152" marR="73152" marT="18288" marB="18288">
                    <a:solidFill>
                      <a:srgbClr val="1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Incidents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Avoided</a:t>
                      </a:r>
                    </a:p>
                  </a:txBody>
                  <a:tcPr anchor="ctr" marL="73152" marR="73152" marT="18288" marB="18288">
                    <a:solidFill>
                      <a:srgbClr val="1B2A4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B2A4A"/>
                          </a:solidFill>
                          <a:latin typeface="Calibri"/>
                        </a:rPr>
                        <a:t>MND-EQ-01 (Equities)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4A"/>
                          </a:solidFill>
                          <a:latin typeface="Calibri"/>
                        </a:rPr>
                        <a:t>06:45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4A"/>
                          </a:solidFill>
                          <a:latin typeface="Calibri"/>
                        </a:rPr>
                        <a:t>04:10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4A"/>
                          </a:solidFill>
                          <a:latin typeface="Calibri"/>
                        </a:rPr>
                        <a:t>2h 35m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4A"/>
                          </a:solidFill>
                          <a:latin typeface="Calibri"/>
                        </a:rPr>
                        <a:t>1h 50m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6352C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7A4C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B2A4A"/>
                          </a:solidFill>
                          <a:latin typeface="Calibri"/>
                        </a:rPr>
                        <a:t>MND-FI-02 (Fixed Income)</a:t>
                      </a:r>
                    </a:p>
                  </a:txBody>
                  <a:tcPr anchor="ctr" marL="73152" marR="73152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4A"/>
                          </a:solidFill>
                          <a:latin typeface="Calibri"/>
                        </a:rPr>
                        <a:t>07:15</a:t>
                      </a:r>
                    </a:p>
                  </a:txBody>
                  <a:tcPr anchor="ctr" marL="73152" marR="73152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4A"/>
                          </a:solidFill>
                          <a:latin typeface="Calibri"/>
                        </a:rPr>
                        <a:t>05:00</a:t>
                      </a:r>
                    </a:p>
                  </a:txBody>
                  <a:tcPr anchor="ctr" marL="73152" marR="73152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4A"/>
                          </a:solidFill>
                          <a:latin typeface="Calibri"/>
                        </a:rPr>
                        <a:t>2h 15m</a:t>
                      </a:r>
                    </a:p>
                  </a:txBody>
                  <a:tcPr anchor="ctr" marL="73152" marR="73152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4A"/>
                          </a:solidFill>
                          <a:latin typeface="Calibri"/>
                        </a:rPr>
                        <a:t>2h 05m</a:t>
                      </a:r>
                    </a:p>
                  </a:txBody>
                  <a:tcPr anchor="ctr" marL="73152" marR="73152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6352C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73152" marR="73152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7A4C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18288" marB="18288">
                    <a:solidFill>
                      <a:srgbClr val="F0F3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B2A4A"/>
                          </a:solidFill>
                          <a:latin typeface="Calibri"/>
                        </a:rPr>
                        <a:t>MND-FX-03 (FX)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4A"/>
                          </a:solidFill>
                          <a:latin typeface="Calibri"/>
                        </a:rPr>
                        <a:t>06:30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4A"/>
                          </a:solidFill>
                          <a:latin typeface="Calibri"/>
                        </a:rPr>
                        <a:t>04:45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4A"/>
                          </a:solidFill>
                          <a:latin typeface="Calibri"/>
                        </a:rPr>
                        <a:t>1h 45m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4A"/>
                          </a:solidFill>
                          <a:latin typeface="Calibri"/>
                        </a:rPr>
                        <a:t>1h 20m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6352C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7A4C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B2A4A"/>
                          </a:solidFill>
                          <a:latin typeface="Calibri"/>
                        </a:rPr>
                        <a:t>MND-CR-04 (Credit)</a:t>
                      </a:r>
                    </a:p>
                  </a:txBody>
                  <a:tcPr anchor="ctr" marL="73152" marR="73152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4A"/>
                          </a:solidFill>
                          <a:latin typeface="Calibri"/>
                        </a:rPr>
                        <a:t>07:00</a:t>
                      </a:r>
                    </a:p>
                  </a:txBody>
                  <a:tcPr anchor="ctr" marL="73152" marR="73152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4A"/>
                          </a:solidFill>
                          <a:latin typeface="Calibri"/>
                        </a:rPr>
                        <a:t>04:30</a:t>
                      </a:r>
                    </a:p>
                  </a:txBody>
                  <a:tcPr anchor="ctr" marL="73152" marR="73152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4A"/>
                          </a:solidFill>
                          <a:latin typeface="Calibri"/>
                        </a:rPr>
                        <a:t>2h 30m</a:t>
                      </a:r>
                    </a:p>
                  </a:txBody>
                  <a:tcPr anchor="ctr" marL="73152" marR="73152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4A"/>
                          </a:solidFill>
                          <a:latin typeface="Calibri"/>
                        </a:rPr>
                        <a:t>1h 55m</a:t>
                      </a:r>
                    </a:p>
                  </a:txBody>
                  <a:tcPr anchor="ctr" marL="73152" marR="73152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6352C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7A4C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73152" marR="73152" marT="18288" marB="18288">
                    <a:solidFill>
                      <a:srgbClr val="F0F3F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B2A4A"/>
                          </a:solidFill>
                          <a:latin typeface="Calibri"/>
                        </a:rPr>
                        <a:t>MND-EQ-05 (Equities)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4A"/>
                          </a:solidFill>
                          <a:latin typeface="Calibri"/>
                        </a:rPr>
                        <a:t>06:50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4A"/>
                          </a:solidFill>
                          <a:latin typeface="Calibri"/>
                        </a:rPr>
                        <a:t>03:55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4A"/>
                          </a:solidFill>
                          <a:latin typeface="Calibri"/>
                        </a:rPr>
                        <a:t>2h 55m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4A"/>
                          </a:solidFill>
                          <a:latin typeface="Calibri"/>
                        </a:rPr>
                        <a:t>2h 10m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6352C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7A4C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73152" marR="73152" marT="18288" marB="18288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B2A4A"/>
                          </a:solidFill>
                          <a:latin typeface="Calibri"/>
                        </a:rPr>
                        <a:t>MND-MM-06 (Money Mkt)</a:t>
                      </a:r>
                    </a:p>
                  </a:txBody>
                  <a:tcPr anchor="ctr" marL="73152" marR="73152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4A"/>
                          </a:solidFill>
                          <a:latin typeface="Calibri"/>
                        </a:rPr>
                        <a:t>07:10</a:t>
                      </a:r>
                    </a:p>
                  </a:txBody>
                  <a:tcPr anchor="ctr" marL="73152" marR="73152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4A"/>
                          </a:solidFill>
                          <a:latin typeface="Calibri"/>
                        </a:rPr>
                        <a:t>04:20</a:t>
                      </a:r>
                    </a:p>
                  </a:txBody>
                  <a:tcPr anchor="ctr" marL="73152" marR="73152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4A"/>
                          </a:solidFill>
                          <a:latin typeface="Calibri"/>
                        </a:rPr>
                        <a:t>2h 50m</a:t>
                      </a:r>
                    </a:p>
                  </a:txBody>
                  <a:tcPr anchor="ctr" marL="73152" marR="73152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B2A4A"/>
                          </a:solidFill>
                          <a:latin typeface="Calibri"/>
                        </a:rPr>
                        <a:t>2h 00m</a:t>
                      </a:r>
                    </a:p>
                  </a:txBody>
                  <a:tcPr anchor="ctr" marL="73152" marR="73152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6352C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73152" marR="73152" marT="18288" marB="18288">
                    <a:solidFill>
                      <a:srgbClr val="F0F3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7A4C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73152" marR="73152" marT="18288" marB="18288">
                    <a:solidFill>
                      <a:srgbClr val="F0F3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