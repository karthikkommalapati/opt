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From Time-Based to Trigger-Based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C9D6E8"/>
                </a:solidFill>
                <a:latin typeface="Calibri"/>
              </a:rPr>
              <a:t>Automated, data-driven job starts — fewer failures, earlier delivery, incidents avoided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5532120" cy="1911095"/>
          </a:xfrm>
          <a:prstGeom prst="roundRect">
            <a:avLst>
              <a:gd name="adj" fmla="val 6000"/>
            </a:avLst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82296" cy="1911095"/>
          </a:xfrm>
          <a:prstGeom prst="rect">
            <a:avLst/>
          </a:prstGeom>
          <a:solidFill>
            <a:srgbClr val="A6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6352C"/>
                </a:solidFill>
                <a:latin typeface="Calibri"/>
              </a:rPr>
              <a:t>PREVIOUS — Time-Based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5029200" cy="1362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00">
                <a:solidFill>
                  <a:srgbClr val="1B2A4A"/>
                </a:solidFill>
                <a:latin typeface="Calibri"/>
              </a:rPr>
              <a:t>•  Jobs fixed to run at a set clock time, regardless of data readiness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00">
                <a:solidFill>
                  <a:srgbClr val="1B2A4A"/>
                </a:solidFill>
                <a:latin typeface="Calibri"/>
              </a:rPr>
              <a:t>•  If upstream data hadn't arrived yet, the job still fired — and failed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00">
                <a:solidFill>
                  <a:srgbClr val="1B2A4A"/>
                </a:solidFill>
                <a:latin typeface="Calibri"/>
              </a:rPr>
              <a:t>•  Every failure created a production incident, even when data simply arrived late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88720"/>
            <a:ext cx="5532120" cy="1911095"/>
          </a:xfrm>
          <a:prstGeom prst="roundRect">
            <a:avLst>
              <a:gd name="adj" fmla="val 6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188720"/>
            <a:ext cx="82296" cy="1911095"/>
          </a:xfrm>
          <a:prstGeom prst="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98448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7A4C"/>
                </a:solidFill>
                <a:latin typeface="Calibri"/>
              </a:rPr>
              <a:t>CURRENT — Trigger-Based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64208"/>
            <a:ext cx="5029200" cy="1362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00">
                <a:solidFill>
                  <a:srgbClr val="1B2A4A"/>
                </a:solidFill>
                <a:latin typeface="Calibri"/>
              </a:rPr>
              <a:t>•  Jobs start automatically the moment upstream data actually arrives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00">
                <a:solidFill>
                  <a:srgbClr val="1B2A4A"/>
                </a:solidFill>
                <a:latin typeface="Calibri"/>
              </a:rPr>
              <a:t>•  No fixed clock time — no more "fired too early, no data" failures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00">
                <a:solidFill>
                  <a:srgbClr val="1B2A4A"/>
                </a:solidFill>
                <a:latin typeface="Calibri"/>
              </a:rPr>
              <a:t>•  Runs as early as data allows, and skips the incident entirely when the old fixed time would have been missed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00">
                <a:solidFill>
                  <a:srgbClr val="1B2A4A"/>
                </a:solidFill>
                <a:latin typeface="Calibri"/>
              </a:rPr>
              <a:t>•  Absorbs upstream delays cleanly — under the old time-bound configs, a delayed upstream feed meant two days' data landing and running together in the same cycle, requiring L2 to manually split files by date and reprocess; with multiple mandates hitting this at once, it became a massive manual effort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282695"/>
            <a:ext cx="2705023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364991"/>
            <a:ext cx="23758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4A525E"/>
                </a:solidFill>
                <a:latin typeface="Calibri"/>
              </a:rPr>
              <a:t>AVG. EARLY 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03319"/>
            <a:ext cx="23758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6FB2"/>
                </a:solidFill>
                <a:latin typeface="Calibri"/>
              </a:rPr>
              <a:t>2h 28m earlier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9383" y="3282695"/>
            <a:ext cx="2705023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82263" y="3364991"/>
            <a:ext cx="23758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4A525E"/>
                </a:solidFill>
                <a:latin typeface="Calibri"/>
              </a:rPr>
              <a:t>AVG. UPSTREAM DELAY (WHEN LATE)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2263" y="3703319"/>
            <a:ext cx="23758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6FB2"/>
                </a:solidFill>
                <a:latin typeface="Calibri"/>
              </a:rPr>
              <a:t>1h 53m faster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7287" y="3282695"/>
            <a:ext cx="2705023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0167" y="3364991"/>
            <a:ext cx="23758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4A525E"/>
                </a:solidFill>
                <a:latin typeface="Calibri"/>
              </a:rPr>
              <a:t>PRIOR MONTHLY INCIDENTS (AVG)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3703319"/>
            <a:ext cx="23758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A6352C"/>
                </a:solidFill>
                <a:latin typeface="Calibri"/>
              </a:rPr>
              <a:t>55 / month, all mandates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75191" y="3282695"/>
            <a:ext cx="2705023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8071" y="3364991"/>
            <a:ext cx="23758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4A525E"/>
                </a:solidFill>
                <a:latin typeface="Calibri"/>
              </a:rPr>
              <a:t>INCIDENTS AVOIDED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3703319"/>
            <a:ext cx="23758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7A4C"/>
                </a:solidFill>
                <a:latin typeface="Calibri"/>
              </a:rPr>
              <a:t>27 across 6 mandates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187951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CPS – Datahub (go-live: 21/07/2026)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11480" y="4480559"/>
          <a:ext cx="11368731" cy="21214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35103"/>
                <a:gridCol w="1128810"/>
                <a:gridCol w="725663"/>
                <a:gridCol w="1935103"/>
                <a:gridCol w="1531957"/>
                <a:gridCol w="1370698"/>
                <a:gridCol w="2741397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Mandate</a:t>
                      </a:r>
                    </a:p>
                  </a:txBody>
                  <a:tcPr anchor="ctr" marL="73152" marR="73152" marT="18288" marB="18288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Previous Start</a:t>
                      </a:r>
                    </a:p>
                  </a:txBody>
                  <a:tcPr anchor="ctr" marL="73152" marR="73152" marT="18288" marB="18288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New Start</a:t>
                      </a:r>
                    </a:p>
                  </a:txBody>
                  <a:tcPr anchor="ctr" marL="73152" marR="73152" marT="18288" marB="18288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Avg. Improvement (Early)</a:t>
                      </a:r>
                    </a:p>
                  </a:txBody>
                  <a:tcPr anchor="ctr" marL="73152" marR="73152" marT="18288" marB="18288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Avg. Upstream Delay</a:t>
                      </a:r>
                    </a:p>
                  </a:txBody>
                  <a:tcPr anchor="ctr" marL="73152" marR="73152" marT="18288" marB="18288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Incidents Avoided</a:t>
                      </a:r>
                    </a:p>
                  </a:txBody>
                  <a:tcPr anchor="ctr" marL="73152" marR="73152" marT="18288" marB="18288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Incidents Occurred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(Late Arrival / Out-of-Time-Bound)</a:t>
                      </a:r>
                    </a:p>
                  </a:txBody>
                  <a:tcPr anchor="ctr" marL="73152" marR="73152" marT="18288" marB="18288">
                    <a:solidFill>
                      <a:srgbClr val="1B2A4A"/>
                    </a:solidFill>
                  </a:tcPr>
                </a:tc>
              </a:tr>
              <a:tr h="2621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A"/>
                          </a:solidFill>
                          <a:latin typeface="Calibri"/>
                        </a:rPr>
                        <a:t>MND-EQ-01 (Equities)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06:45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04:10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2h 35m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1h 50m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7A4C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6352C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621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A"/>
                          </a:solidFill>
                          <a:latin typeface="Calibri"/>
                        </a:rPr>
                        <a:t>MND-FI-02 (Fixed Income)</a:t>
                      </a:r>
                    </a:p>
                  </a:txBody>
                  <a:tcPr anchor="ctr" marL="73152" marR="73152" marT="18288" marB="18288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07:15</a:t>
                      </a:r>
                    </a:p>
                  </a:txBody>
                  <a:tcPr anchor="ctr" marL="73152" marR="73152" marT="18288" marB="18288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05:00</a:t>
                      </a:r>
                    </a:p>
                  </a:txBody>
                  <a:tcPr anchor="ctr" marL="73152" marR="73152" marT="18288" marB="18288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2h 15m</a:t>
                      </a:r>
                    </a:p>
                  </a:txBody>
                  <a:tcPr anchor="ctr" marL="73152" marR="73152" marT="18288" marB="18288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2h 05m</a:t>
                      </a:r>
                    </a:p>
                  </a:txBody>
                  <a:tcPr anchor="ctr" marL="73152" marR="73152" marT="18288" marB="18288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7A4C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18288" marB="18288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6352C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73152" marR="73152" marT="18288" marB="18288">
                    <a:solidFill>
                      <a:srgbClr val="F0F3F7"/>
                    </a:solidFill>
                  </a:tcPr>
                </a:tc>
              </a:tr>
              <a:tr h="2621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A"/>
                          </a:solidFill>
                          <a:latin typeface="Calibri"/>
                        </a:rPr>
                        <a:t>MND-FX-03 (FX)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06:30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04:45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1h 45m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1h 20m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7A4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6352C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621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A"/>
                          </a:solidFill>
                          <a:latin typeface="Calibri"/>
                        </a:rPr>
                        <a:t>MND-CR-04 (Credit)</a:t>
                      </a:r>
                    </a:p>
                  </a:txBody>
                  <a:tcPr anchor="ctr" marL="73152" marR="73152" marT="18288" marB="18288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07:00</a:t>
                      </a:r>
                    </a:p>
                  </a:txBody>
                  <a:tcPr anchor="ctr" marL="73152" marR="73152" marT="18288" marB="18288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04:30</a:t>
                      </a:r>
                    </a:p>
                  </a:txBody>
                  <a:tcPr anchor="ctr" marL="73152" marR="73152" marT="18288" marB="18288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2h 30m</a:t>
                      </a:r>
                    </a:p>
                  </a:txBody>
                  <a:tcPr anchor="ctr" marL="73152" marR="73152" marT="18288" marB="18288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1h 55m</a:t>
                      </a:r>
                    </a:p>
                  </a:txBody>
                  <a:tcPr anchor="ctr" marL="73152" marR="73152" marT="18288" marB="18288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7A4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6352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73152" marR="73152" marT="18288" marB="18288">
                    <a:solidFill>
                      <a:srgbClr val="F0F3F7"/>
                    </a:solidFill>
                  </a:tcPr>
                </a:tc>
              </a:tr>
              <a:tr h="2621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A"/>
                          </a:solidFill>
                          <a:latin typeface="Calibri"/>
                        </a:rPr>
                        <a:t>MND-EQ-05 (Equities)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06:50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03:55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2h 55m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2h 10m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7A4C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6352C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621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A"/>
                          </a:solidFill>
                          <a:latin typeface="Calibri"/>
                        </a:rPr>
                        <a:t>MND-MM-06 (Money Mkt)</a:t>
                      </a:r>
                    </a:p>
                  </a:txBody>
                  <a:tcPr anchor="ctr" marL="73152" marR="73152" marT="18288" marB="18288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07:10</a:t>
                      </a:r>
                    </a:p>
                  </a:txBody>
                  <a:tcPr anchor="ctr" marL="73152" marR="73152" marT="18288" marB="18288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04:20</a:t>
                      </a:r>
                    </a:p>
                  </a:txBody>
                  <a:tcPr anchor="ctr" marL="73152" marR="73152" marT="18288" marB="18288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2h 50m</a:t>
                      </a:r>
                    </a:p>
                  </a:txBody>
                  <a:tcPr anchor="ctr" marL="73152" marR="73152" marT="18288" marB="18288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2h 00m</a:t>
                      </a:r>
                    </a:p>
                  </a:txBody>
                  <a:tcPr anchor="ctr" marL="73152" marR="73152" marT="18288" marB="18288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7A4C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 marT="18288" marB="18288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6352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73152" marR="73152" marT="18288" marB="18288">
                    <a:solidFill>
                      <a:srgbClr val="F0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